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6" r:id="rId5"/>
    <p:sldId id="265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62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18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gTsuntsun" userId="8d410240-c3b4-43cc-8ff8-a94856ce8067" providerId="ADAL" clId="{F17126BB-745C-4C73-A05A-5C97C9BECECE}"/>
    <pc:docChg chg="modSld">
      <pc:chgData name="PangTsuntsun" userId="8d410240-c3b4-43cc-8ff8-a94856ce8067" providerId="ADAL" clId="{F17126BB-745C-4C73-A05A-5C97C9BECECE}" dt="2026-09-14T12:04:44.794" v="4"/>
      <pc:docMkLst>
        <pc:docMk/>
      </pc:docMkLst>
      <pc:sldChg chg="modSp">
        <pc:chgData name="PangTsuntsun" userId="8d410240-c3b4-43cc-8ff8-a94856ce8067" providerId="ADAL" clId="{F17126BB-745C-4C73-A05A-5C97C9BECECE}" dt="2026-09-14T12:04:44.783" v="1"/>
        <pc:sldMkLst>
          <pc:docMk/>
          <pc:sldMk cId="3247069566" sldId="265"/>
        </pc:sldMkLst>
        <pc:graphicFrameChg chg="mod">
          <ac:chgData name="PangTsuntsun" userId="8d410240-c3b4-43cc-8ff8-a94856ce8067" providerId="ADAL" clId="{F17126BB-745C-4C73-A05A-5C97C9BECECE}" dt="2026-09-14T12:04:44.783" v="1"/>
          <ac:graphicFrameMkLst>
            <pc:docMk/>
            <pc:sldMk cId="3247069566" sldId="265"/>
            <ac:graphicFrameMk id="4" creationId="{2A03A858-ACDF-B724-5A2B-A70DC9AB723E}"/>
          </ac:graphicFrameMkLst>
        </pc:graphicFrameChg>
      </pc:sldChg>
      <pc:sldChg chg="modSp">
        <pc:chgData name="PangTsuntsun" userId="8d410240-c3b4-43cc-8ff8-a94856ce8067" providerId="ADAL" clId="{F17126BB-745C-4C73-A05A-5C97C9BECECE}" dt="2026-09-14T12:04:44.777" v="0"/>
        <pc:sldMkLst>
          <pc:docMk/>
          <pc:sldMk cId="3278490041" sldId="266"/>
        </pc:sldMkLst>
        <pc:graphicFrameChg chg="mod">
          <ac:chgData name="PangTsuntsun" userId="8d410240-c3b4-43cc-8ff8-a94856ce8067" providerId="ADAL" clId="{F17126BB-745C-4C73-A05A-5C97C9BECECE}" dt="2026-09-14T12:04:44.777" v="0"/>
          <ac:graphicFrameMkLst>
            <pc:docMk/>
            <pc:sldMk cId="3278490041" sldId="266"/>
            <ac:graphicFrameMk id="7" creationId="{24989415-ADF9-0C0B-54D0-0A765FC8BFBC}"/>
          </ac:graphicFrameMkLst>
        </pc:graphicFrameChg>
      </pc:sldChg>
      <pc:sldChg chg="modSp">
        <pc:chgData name="PangTsuntsun" userId="8d410240-c3b4-43cc-8ff8-a94856ce8067" providerId="ADAL" clId="{F17126BB-745C-4C73-A05A-5C97C9BECECE}" dt="2026-09-14T12:04:44.789" v="2"/>
        <pc:sldMkLst>
          <pc:docMk/>
          <pc:sldMk cId="3859229590" sldId="270"/>
        </pc:sldMkLst>
        <pc:graphicFrameChg chg="mod">
          <ac:chgData name="PangTsuntsun" userId="8d410240-c3b4-43cc-8ff8-a94856ce8067" providerId="ADAL" clId="{F17126BB-745C-4C73-A05A-5C97C9BECECE}" dt="2026-09-14T12:04:44.789" v="2"/>
          <ac:graphicFrameMkLst>
            <pc:docMk/>
            <pc:sldMk cId="3859229590" sldId="270"/>
            <ac:graphicFrameMk id="15" creationId="{1D8E8882-E0CA-E7C3-1B77-BF0BC64EAA87}"/>
          </ac:graphicFrameMkLst>
        </pc:graphicFrameChg>
      </pc:sldChg>
      <pc:sldChg chg="modSp">
        <pc:chgData name="PangTsuntsun" userId="8d410240-c3b4-43cc-8ff8-a94856ce8067" providerId="ADAL" clId="{F17126BB-745C-4C73-A05A-5C97C9BECECE}" dt="2026-09-14T12:04:44.794" v="3"/>
        <pc:sldMkLst>
          <pc:docMk/>
          <pc:sldMk cId="130620186" sldId="271"/>
        </pc:sldMkLst>
        <pc:graphicFrameChg chg="mod">
          <ac:chgData name="PangTsuntsun" userId="8d410240-c3b4-43cc-8ff8-a94856ce8067" providerId="ADAL" clId="{F17126BB-745C-4C73-A05A-5C97C9BECECE}" dt="2026-09-14T12:04:44.794" v="3"/>
          <ac:graphicFrameMkLst>
            <pc:docMk/>
            <pc:sldMk cId="130620186" sldId="271"/>
            <ac:graphicFrameMk id="6" creationId="{309AE72F-A726-04C5-7EB0-93D1EF0F15C0}"/>
          </ac:graphicFrameMkLst>
        </pc:graphicFrameChg>
      </pc:sldChg>
      <pc:sldChg chg="modSp">
        <pc:chgData name="PangTsuntsun" userId="8d410240-c3b4-43cc-8ff8-a94856ce8067" providerId="ADAL" clId="{F17126BB-745C-4C73-A05A-5C97C9BECECE}" dt="2026-09-14T12:04:44.794" v="4"/>
        <pc:sldMkLst>
          <pc:docMk/>
          <pc:sldMk cId="3943182096" sldId="272"/>
        </pc:sldMkLst>
        <pc:graphicFrameChg chg="mod">
          <ac:chgData name="PangTsuntsun" userId="8d410240-c3b4-43cc-8ff8-a94856ce8067" providerId="ADAL" clId="{F17126BB-745C-4C73-A05A-5C97C9BECECE}" dt="2026-09-14T12:04:44.794" v="4"/>
          <ac:graphicFrameMkLst>
            <pc:docMk/>
            <pc:sldMk cId="3943182096" sldId="272"/>
            <ac:graphicFrameMk id="7" creationId="{85574A14-843F-EDC0-0E17-1D2265E927EB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8EA43-0DEA-BD60-A2D0-C9F9B4854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C3D14D-2A6F-F94D-3E75-9595D9AD9D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0BF75-0C25-6DFA-4316-030F39F7E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DB05-9588-48BF-8A3F-BEBBCBCB410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D018A-51E7-9ED8-CECD-9EBC5B47B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70800-CF70-CC85-4440-CC4677BF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C3787-C675-437D-B02E-A750E028A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709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61A58-0EC3-E5A9-DE86-1763A8DA5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397CB-B587-CD73-615D-9F54AF423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5012B-AA7D-06BB-9EE7-3104AD525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DB05-9588-48BF-8A3F-BEBBCBCB410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841BB-245F-8ECC-FD56-F7277B452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E5159-9053-B5F0-B6BE-EF8E51A81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C3787-C675-437D-B02E-A750E028A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65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A46C8-61E5-8CB8-5C48-C5184601B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5FEE5-1BB2-1187-18E7-984CAF752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5B7E0-6FAB-0E34-B053-224E1E5F7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DB05-9588-48BF-8A3F-BEBBCBCB410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02F3C-8E22-2390-1357-EB269D029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3EC64-D303-6C1F-8337-10AB88FC3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C3787-C675-437D-B02E-A750E028A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316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40140-E550-456C-95D4-A9757E633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A1413-B1FC-FBB2-2088-A61C33DBA3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71EF54-8A82-9984-4812-032F81898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49062-27AE-0CF5-7865-261C99418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DB05-9588-48BF-8A3F-BEBBCBCB410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1B673-CD72-1737-34B2-C1C34A810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24B6E-2F84-FB10-4B07-EB066AE1D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C3787-C675-437D-B02E-A750E028A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48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5E914-B60B-FA62-DA2E-DC374EE2E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765F6-C6A4-0B63-66ED-50A023702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EA9E58-B1AD-278D-C277-E95E8CE081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5F5880-2F1D-F7E6-1C96-9DF399CDA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94866D-A5D3-EFB0-ABB9-D6588E384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E488AE-7D30-1C9A-2896-EBE240423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DB05-9588-48BF-8A3F-BEBBCBCB410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9FE608-2BD0-BF4A-44B6-44B7FB0E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35F01-C7D5-C2B7-3EC8-D740AD67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C3787-C675-437D-B02E-A750E028A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775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76A88-95B0-B9BE-33F9-36A5A48A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B5932E-D52E-CF8F-73A2-824915BF7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DB05-9588-48BF-8A3F-BEBBCBCB410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D7837F-9EF1-FD52-3654-D60E4B197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95644E-F8CB-80B7-F2E9-F0CB00595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C3787-C675-437D-B02E-A750E028A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437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8F14A1-C0C3-793B-6305-9BA7E2AB9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DB05-9588-48BF-8A3F-BEBBCBCB410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7A586-D9AA-6571-F27D-157D07373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6D4D3-AB25-1A48-35E8-E6F1DA96B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C3787-C675-437D-B02E-A750E028A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7484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9E315-4DC6-3251-49D1-22DFD72DB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C6538-F3B8-2CBD-63A6-E47A1EA4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4AB257-FD9E-3A07-1232-9B82F23C3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F3F30-AD17-7213-0C8F-59F72F8A0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DB05-9588-48BF-8A3F-BEBBCBCB410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53E9DE-C7AB-971A-1F9B-A2223F9B9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66530-BB9E-CB70-64BC-7E076E4F5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C3787-C675-437D-B02E-A750E028A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980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7F6BD-7EFA-B0B7-F800-E6935DB5D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E47D60-0D06-A1EF-4E10-7F054A5A56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EE8A73-E717-3D63-A211-D163677D9C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40C611-E7CC-0279-772F-074F35480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DB05-9588-48BF-8A3F-BEBBCBCB410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46630-18AD-4A44-32F0-F8FD39B05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FCEA2-A7D6-0DC5-F036-BAB24217D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C3787-C675-437D-B02E-A750E028A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349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61975-6C1F-77AE-B992-D606D727D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4C6F5-FDC2-46D3-EE38-653CA8783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E8F65-5325-952D-DE92-D247B2698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DB05-9588-48BF-8A3F-BEBBCBCB410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33F30-80C5-1223-22FE-AC6A95BE6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30CFA-C873-66D1-4786-DCB90C49A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C3787-C675-437D-B02E-A750E028A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282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E95DC0-1D74-1571-EF44-A8B2AE67BA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29DE8-F3EC-16F8-CC7E-3FDF151BD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95840-A871-D769-0E9C-9F42EFC34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DB05-9588-48BF-8A3F-BEBBCBCB410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74EAF-DF89-FC11-99B2-0775A36D9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3C9FC-FE71-0964-9C2B-E0FD75AE6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C3787-C675-437D-B02E-A750E028A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59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C3189-509A-1AFA-6094-BA60D5A8D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8C4C2-D57E-77D1-371D-C39680E5C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95453-9A44-4392-B125-54D372D07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FFDB05-9588-48BF-8A3F-BEBBCBCB410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E7D81-3464-CC44-A91E-03050C07A4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7E198-B0EC-7794-9195-98011F583C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6C3787-C675-437D-B02E-A750E028A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880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oleObject" Target="../embeddings/oleObject9.bin"/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12" Type="http://schemas.openxmlformats.org/officeDocument/2006/relationships/image" Target="../media/image12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1.wmf"/><Relationship Id="rId5" Type="http://schemas.openxmlformats.org/officeDocument/2006/relationships/image" Target="../media/image8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0.wmf"/><Relationship Id="rId14" Type="http://schemas.openxmlformats.org/officeDocument/2006/relationships/image" Target="../media/image1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7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w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28.wmf"/><Relationship Id="rId3" Type="http://schemas.openxmlformats.org/officeDocument/2006/relationships/image" Target="../media/image24.wmf"/><Relationship Id="rId7" Type="http://schemas.openxmlformats.org/officeDocument/2006/relationships/image" Target="../media/image26.wmf"/><Relationship Id="rId12" Type="http://schemas.openxmlformats.org/officeDocument/2006/relationships/oleObject" Target="../embeddings/oleObject21.bin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7.wmf"/><Relationship Id="rId5" Type="http://schemas.openxmlformats.org/officeDocument/2006/relationships/image" Target="../media/image25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3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23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123D1B-90B1-5672-758C-417DE9FDACD9}"/>
              </a:ext>
            </a:extLst>
          </p:cNvPr>
          <p:cNvSpPr txBox="1"/>
          <p:nvPr/>
        </p:nvSpPr>
        <p:spPr>
          <a:xfrm>
            <a:off x="201227" y="1669001"/>
            <a:ext cx="117895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Winger Crystal </a:t>
            </a:r>
            <a:endParaRPr lang="zh-CN" alt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3A6A7B-F062-9A9D-2066-CBC1AB7E76E5}"/>
              </a:ext>
            </a:extLst>
          </p:cNvPr>
          <p:cNvSpPr txBox="1"/>
          <p:nvPr/>
        </p:nvSpPr>
        <p:spPr>
          <a:xfrm>
            <a:off x="106532" y="3275860"/>
            <a:ext cx="12002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 14</a:t>
            </a:r>
            <a:r>
              <a:rPr lang="en-US" altLang="zh-CN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2026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751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E57F42-1721-9889-3D68-C8E8C631FED0}"/>
              </a:ext>
            </a:extLst>
          </p:cNvPr>
          <p:cNvSpPr txBox="1"/>
          <p:nvPr/>
        </p:nvSpPr>
        <p:spPr>
          <a:xfrm>
            <a:off x="106532" y="204186"/>
            <a:ext cx="5255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Outline</a:t>
            </a:r>
            <a:endParaRPr lang="zh-CN" altLang="en-US" sz="3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E09195-56BE-0C32-F1C1-A6F9A663F16F}"/>
              </a:ext>
            </a:extLst>
          </p:cNvPr>
          <p:cNvSpPr txBox="1"/>
          <p:nvPr/>
        </p:nvSpPr>
        <p:spPr>
          <a:xfrm>
            <a:off x="275207" y="1249385"/>
            <a:ext cx="117717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 realization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965262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F5DC84-B145-32F1-F202-B279E7731494}"/>
              </a:ext>
            </a:extLst>
          </p:cNvPr>
          <p:cNvSpPr txBox="1"/>
          <p:nvPr/>
        </p:nvSpPr>
        <p:spPr>
          <a:xfrm>
            <a:off x="170894" y="352433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DFCDC1-55FA-A31C-40CC-78742F41B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90" y="1583650"/>
            <a:ext cx="3316233" cy="26223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B9F460-C78F-2A07-8685-6405E136FDA9}"/>
              </a:ext>
            </a:extLst>
          </p:cNvPr>
          <p:cNvSpPr txBox="1"/>
          <p:nvPr/>
        </p:nvSpPr>
        <p:spPr>
          <a:xfrm>
            <a:off x="281990" y="1098235"/>
            <a:ext cx="2093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electron gas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371BE6-AB6E-C717-ECE6-509DD5FE0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498" y="1583651"/>
            <a:ext cx="3316233" cy="2640914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677FA2FC-F833-3C8C-750A-C561D44D4168}"/>
              </a:ext>
            </a:extLst>
          </p:cNvPr>
          <p:cNvSpPr/>
          <p:nvPr/>
        </p:nvSpPr>
        <p:spPr>
          <a:xfrm>
            <a:off x="3823855" y="2719449"/>
            <a:ext cx="2441559" cy="2493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8BE591-ACD4-8B69-92E8-BA1149C88FC9}"/>
              </a:ext>
            </a:extLst>
          </p:cNvPr>
          <p:cNvSpPr txBox="1"/>
          <p:nvPr/>
        </p:nvSpPr>
        <p:spPr>
          <a:xfrm>
            <a:off x="1128158" y="4322131"/>
            <a:ext cx="138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Gas, liquid 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8FB0A4-8C1D-18AA-60D9-BE525EFE79FC}"/>
              </a:ext>
            </a:extLst>
          </p:cNvPr>
          <p:cNvSpPr txBox="1"/>
          <p:nvPr/>
        </p:nvSpPr>
        <p:spPr>
          <a:xfrm>
            <a:off x="7379908" y="4322131"/>
            <a:ext cx="2227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Winger crystal (Solid)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6A1AD7-E1A4-90F0-96D8-B7DF96CACDEA}"/>
              </a:ext>
            </a:extLst>
          </p:cNvPr>
          <p:cNvSpPr txBox="1"/>
          <p:nvPr/>
        </p:nvSpPr>
        <p:spPr>
          <a:xfrm>
            <a:off x="709501" y="4819421"/>
            <a:ext cx="265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Kinetic energy dominate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1C4B14-7F33-D67D-7134-F23F504D4E5E}"/>
              </a:ext>
            </a:extLst>
          </p:cNvPr>
          <p:cNvSpPr txBox="1"/>
          <p:nvPr/>
        </p:nvSpPr>
        <p:spPr>
          <a:xfrm>
            <a:off x="7167915" y="4776993"/>
            <a:ext cx="265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Potential energy dominate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086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77374-66F8-D54E-41CB-F21CE0DB3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67" y="995480"/>
            <a:ext cx="4020111" cy="2267266"/>
          </a:xfrm>
          <a:prstGeom prst="rect">
            <a:avLst/>
          </a:prstGeom>
        </p:spPr>
      </p:pic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4821199-A6C9-80F9-0B69-3B0FFF04DB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2217385"/>
              </p:ext>
            </p:extLst>
          </p:nvPr>
        </p:nvGraphicFramePr>
        <p:xfrm>
          <a:off x="4859213" y="1089623"/>
          <a:ext cx="1286673" cy="442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3" imgW="559080" imgH="192600" progId="Equation.AxMath">
                  <p:embed/>
                </p:oleObj>
              </mc:Choice>
              <mc:Fallback>
                <p:oleObj name="AxMath" r:id="rId3" imgW="559080" imgH="192600" progId="Equation.AxMath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4821199-A6C9-80F9-0B69-3B0FFF04DB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59213" y="1089623"/>
                        <a:ext cx="1286673" cy="4422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7DD0E9F8-3210-1F2D-7198-B2F8D46027AC}"/>
              </a:ext>
            </a:extLst>
          </p:cNvPr>
          <p:cNvSpPr/>
          <p:nvPr/>
        </p:nvSpPr>
        <p:spPr>
          <a:xfrm>
            <a:off x="6221276" y="1211283"/>
            <a:ext cx="2268187" cy="2256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266590AC-00EB-BABF-D8A1-BAA0423595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905950"/>
              </p:ext>
            </p:extLst>
          </p:nvPr>
        </p:nvGraphicFramePr>
        <p:xfrm>
          <a:off x="9140434" y="946273"/>
          <a:ext cx="12954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5" imgW="648000" imgH="378360" progId="Equation.AxMath">
                  <p:embed/>
                </p:oleObj>
              </mc:Choice>
              <mc:Fallback>
                <p:oleObj name="AxMath" r:id="rId5" imgW="648000" imgH="378360" progId="Equation.AxMath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266590AC-00EB-BABF-D8A1-BAA0423595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0434" y="946273"/>
                        <a:ext cx="1295400" cy="755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24989415-ADF9-0C0B-54D0-0A765FC8BF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6151776"/>
              </p:ext>
            </p:extLst>
          </p:nvPr>
        </p:nvGraphicFramePr>
        <p:xfrm>
          <a:off x="4859213" y="2361375"/>
          <a:ext cx="22256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7" imgW="1113480" imgH="381240" progId="Equation.AxMath">
                  <p:embed/>
                </p:oleObj>
              </mc:Choice>
              <mc:Fallback>
                <p:oleObj name="AxMath" r:id="rId7" imgW="1113480" imgH="381240" progId="Equation.AxMath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24989415-ADF9-0C0B-54D0-0A765FC8BF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59213" y="2361375"/>
                        <a:ext cx="2225675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8490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A26B94-7C8B-7423-6C40-F5DABA9DC9EA}"/>
              </a:ext>
            </a:extLst>
          </p:cNvPr>
          <p:cNvSpPr txBox="1"/>
          <p:nvPr/>
        </p:nvSpPr>
        <p:spPr>
          <a:xfrm>
            <a:off x="115786" y="575355"/>
            <a:ext cx="42780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Conditions for Wigner crystallization: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A03A858-ACDF-B724-5A2B-A70DC9AB72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1859062"/>
              </p:ext>
            </p:extLst>
          </p:nvPr>
        </p:nvGraphicFramePr>
        <p:xfrm>
          <a:off x="4212738" y="575355"/>
          <a:ext cx="2575422" cy="517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" imgW="919800" imgH="200160" progId="Equation.AxMath">
                  <p:embed/>
                </p:oleObj>
              </mc:Choice>
              <mc:Fallback>
                <p:oleObj name="AxMath" r:id="rId2" imgW="919800" imgH="200160" progId="Equation.AxMath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2A03A858-ACDF-B724-5A2B-A70DC9AB72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12738" y="575355"/>
                        <a:ext cx="2575422" cy="517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F0D8C88-2080-D3BD-585C-80BCB840FAA6}"/>
              </a:ext>
            </a:extLst>
          </p:cNvPr>
          <p:cNvSpPr txBox="1"/>
          <p:nvPr/>
        </p:nvSpPr>
        <p:spPr>
          <a:xfrm>
            <a:off x="270164" y="1846015"/>
            <a:ext cx="2971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Coulomb Potential Energy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6443F1DF-98A7-1011-6F73-B89DDD2F56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977340"/>
              </p:ext>
            </p:extLst>
          </p:nvPr>
        </p:nvGraphicFramePr>
        <p:xfrm>
          <a:off x="2849850" y="1846015"/>
          <a:ext cx="7842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4" imgW="392040" imgH="200160" progId="Equation.AxMath">
                  <p:embed/>
                </p:oleObj>
              </mc:Choice>
              <mc:Fallback>
                <p:oleObj name="AxMath" r:id="rId4" imgW="392040" imgH="200160" progId="Equation.AxMath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6443F1DF-98A7-1011-6F73-B89DDD2F56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49850" y="1846015"/>
                        <a:ext cx="7842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168C780-2603-43E8-DAD4-5C8FDBA08E09}"/>
              </a:ext>
            </a:extLst>
          </p:cNvPr>
          <p:cNvSpPr txBox="1"/>
          <p:nvPr/>
        </p:nvSpPr>
        <p:spPr>
          <a:xfrm>
            <a:off x="270164" y="3579812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Kinetic energy</a:t>
            </a:r>
            <a:endParaRPr lang="zh-CN" altLang="en-US" dirty="0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E5666C44-9367-8091-8EEE-5027DE7039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1951444"/>
              </p:ext>
            </p:extLst>
          </p:nvPr>
        </p:nvGraphicFramePr>
        <p:xfrm>
          <a:off x="2094200" y="3579812"/>
          <a:ext cx="7556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6" imgW="377280" imgH="200160" progId="Equation.AxMath">
                  <p:embed/>
                </p:oleObj>
              </mc:Choice>
              <mc:Fallback>
                <p:oleObj name="AxMath" r:id="rId6" imgW="377280" imgH="200160" progId="Equation.AxMath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E5666C44-9367-8091-8EEE-5027DE7039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94200" y="3579812"/>
                        <a:ext cx="7556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0475103C-A05C-23DE-B167-4EAA5A6871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480686"/>
              </p:ext>
            </p:extLst>
          </p:nvPr>
        </p:nvGraphicFramePr>
        <p:xfrm>
          <a:off x="2849850" y="2576513"/>
          <a:ext cx="259715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8" imgW="1298880" imgH="350640" progId="Equation.AxMath">
                  <p:embed/>
                </p:oleObj>
              </mc:Choice>
              <mc:Fallback>
                <p:oleObj name="AxMath" r:id="rId8" imgW="1298880" imgH="350640" progId="Equation.AxMath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0475103C-A05C-23DE-B167-4EAA5A6871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849850" y="2576513"/>
                        <a:ext cx="2597150" cy="701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6A39E4D2-68CC-AB7B-63BF-940C44E850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8738794"/>
              </p:ext>
            </p:extLst>
          </p:nvPr>
        </p:nvGraphicFramePr>
        <p:xfrm>
          <a:off x="2780495" y="4028252"/>
          <a:ext cx="247650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0" imgW="1238040" imgH="352080" progId="Equation.AxMath">
                  <p:embed/>
                </p:oleObj>
              </mc:Choice>
              <mc:Fallback>
                <p:oleObj name="AxMath" r:id="rId10" imgW="1238040" imgH="352080" progId="Equation.AxMath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6A39E4D2-68CC-AB7B-63BF-940C44E850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780495" y="4028252"/>
                        <a:ext cx="2476500" cy="704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6" name="Picture 2" descr="Plot output">
            <a:extLst>
              <a:ext uri="{FF2B5EF4-FFF2-40B4-BE49-F238E27FC236}">
                <a16:creationId xmlns:a16="http://schemas.microsoft.com/office/drawing/2014/main" id="{AE821967-FF80-973B-324C-EA47102C4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2027" y="1311852"/>
            <a:ext cx="4344636" cy="3450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7752B2A-5E02-0892-1D5A-D5D79E8350B6}"/>
              </a:ext>
            </a:extLst>
          </p:cNvPr>
          <p:cNvSpPr txBox="1"/>
          <p:nvPr/>
        </p:nvSpPr>
        <p:spPr>
          <a:xfrm>
            <a:off x="270164" y="5574708"/>
            <a:ext cx="1166303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Wigner Crystals: A phase of electrons that occurs when the Coulomb potential between the electrons dominates over their kinetic energy. The electrons localize into a regular lattice structure to minimize their energy.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12B263-2E46-E4BA-D343-A482FBD818C2}"/>
              </a:ext>
            </a:extLst>
          </p:cNvPr>
          <p:cNvSpPr txBox="1"/>
          <p:nvPr/>
        </p:nvSpPr>
        <p:spPr>
          <a:xfrm>
            <a:off x="5592541" y="4251366"/>
            <a:ext cx="134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Quantum 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7588A5BA-6F60-A8FE-1138-7317B34FB9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9894358"/>
              </p:ext>
            </p:extLst>
          </p:nvPr>
        </p:nvGraphicFramePr>
        <p:xfrm>
          <a:off x="2742713" y="5113584"/>
          <a:ext cx="14700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3" imgW="735120" imgH="200160" progId="Equation.AxMath">
                  <p:embed/>
                </p:oleObj>
              </mc:Choice>
              <mc:Fallback>
                <p:oleObj name="AxMath" r:id="rId13" imgW="735120" imgH="200160" progId="Equation.AxMath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7588A5BA-6F60-A8FE-1138-7317B34FB9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42713" y="5113584"/>
                        <a:ext cx="14700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29319D0-AC3F-2B12-2B0A-5B2A0B4BF42C}"/>
              </a:ext>
            </a:extLst>
          </p:cNvPr>
          <p:cNvSpPr txBox="1"/>
          <p:nvPr/>
        </p:nvSpPr>
        <p:spPr>
          <a:xfrm>
            <a:off x="5592541" y="5092972"/>
            <a:ext cx="134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Classical 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7069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6660A0A-9251-8916-E9A8-69FDA377A5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7806053"/>
              </p:ext>
            </p:extLst>
          </p:nvPr>
        </p:nvGraphicFramePr>
        <p:xfrm>
          <a:off x="486167" y="515237"/>
          <a:ext cx="93345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" imgW="467280" imgH="350640" progId="Equation.AxMath">
                  <p:embed/>
                </p:oleObj>
              </mc:Choice>
              <mc:Fallback>
                <p:oleObj name="AxMath" r:id="rId2" imgW="467280" imgH="350640" progId="Equation.AxMath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D6660A0A-9251-8916-E9A8-69FDA377A5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6167" y="515237"/>
                        <a:ext cx="933450" cy="701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1E491BE-3890-F0DE-85C2-60D9AC5E6E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507806"/>
              </p:ext>
            </p:extLst>
          </p:nvPr>
        </p:nvGraphicFramePr>
        <p:xfrm>
          <a:off x="314717" y="1899026"/>
          <a:ext cx="6381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4" imgW="319320" imgH="189720" progId="Equation.AxMath">
                  <p:embed/>
                </p:oleObj>
              </mc:Choice>
              <mc:Fallback>
                <p:oleObj name="AxMath" r:id="rId4" imgW="319320" imgH="189720" progId="Equation.AxMath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E1E491BE-3890-F0DE-85C2-60D9AC5E6E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4717" y="1899026"/>
                        <a:ext cx="638175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C94DFD-865A-2CC6-1F1B-48BD2DECE00E}"/>
              </a:ext>
            </a:extLst>
          </p:cNvPr>
          <p:cNvSpPr txBox="1"/>
          <p:nvPr/>
        </p:nvSpPr>
        <p:spPr>
          <a:xfrm>
            <a:off x="4813465" y="1887065"/>
            <a:ext cx="2565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Kinetic energy dominate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A5BA8-AB79-3DF4-6261-32B828098B23}"/>
              </a:ext>
            </a:extLst>
          </p:cNvPr>
          <p:cNvSpPr txBox="1"/>
          <p:nvPr/>
        </p:nvSpPr>
        <p:spPr>
          <a:xfrm>
            <a:off x="8704613" y="1887065"/>
            <a:ext cx="1781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Electron gas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AB084-E8A8-D89F-BD04-FE09FC1D2DCC}"/>
              </a:ext>
            </a:extLst>
          </p:cNvPr>
          <p:cNvSpPr txBox="1"/>
          <p:nvPr/>
        </p:nvSpPr>
        <p:spPr>
          <a:xfrm>
            <a:off x="1803070" y="1887065"/>
            <a:ext cx="1781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densities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8DE9BFC-044A-59FF-D058-6A05273AF3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3945370"/>
              </p:ext>
            </p:extLst>
          </p:nvPr>
        </p:nvGraphicFramePr>
        <p:xfrm>
          <a:off x="264596" y="4427141"/>
          <a:ext cx="9239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6" imgW="461880" imgH="189720" progId="Equation.AxMath">
                  <p:embed/>
                </p:oleObj>
              </mc:Choice>
              <mc:Fallback>
                <p:oleObj name="AxMath" r:id="rId6" imgW="461880" imgH="189720" progId="Equation.AxMath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18DE9BFC-044A-59FF-D058-6A05273AF3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4596" y="4427141"/>
                        <a:ext cx="923925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5ED6815-611B-7F64-71C2-302A8DD1E6CB}"/>
              </a:ext>
            </a:extLst>
          </p:cNvPr>
          <p:cNvSpPr txBox="1"/>
          <p:nvPr/>
        </p:nvSpPr>
        <p:spPr>
          <a:xfrm>
            <a:off x="1803070" y="4416443"/>
            <a:ext cx="1781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densities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1D94F3-4165-2A54-B652-FE1A6791908B}"/>
              </a:ext>
            </a:extLst>
          </p:cNvPr>
          <p:cNvSpPr txBox="1"/>
          <p:nvPr/>
        </p:nvSpPr>
        <p:spPr>
          <a:xfrm>
            <a:off x="4813465" y="4416443"/>
            <a:ext cx="2883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Potential energy dominate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92AD1D-4D24-E11A-AB25-3B20D86B38F5}"/>
              </a:ext>
            </a:extLst>
          </p:cNvPr>
          <p:cNvSpPr txBox="1"/>
          <p:nvPr/>
        </p:nvSpPr>
        <p:spPr>
          <a:xfrm>
            <a:off x="8704613" y="4416443"/>
            <a:ext cx="1781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Electron Solid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007F6654-7F13-0FE3-2E80-DFAE001390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0483579"/>
              </p:ext>
            </p:extLst>
          </p:nvPr>
        </p:nvGraphicFramePr>
        <p:xfrm>
          <a:off x="140132" y="3173527"/>
          <a:ext cx="13398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8" imgW="670680" imgH="189720" progId="Equation.AxMath">
                  <p:embed/>
                </p:oleObj>
              </mc:Choice>
              <mc:Fallback>
                <p:oleObj name="AxMath" r:id="rId8" imgW="670680" imgH="189720" progId="Equation.AxMath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007F6654-7F13-0FE3-2E80-DFAE001390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0132" y="3173527"/>
                        <a:ext cx="133985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34A6F9E-5B58-A559-7216-167089867FE2}"/>
              </a:ext>
            </a:extLst>
          </p:cNvPr>
          <p:cNvSpPr txBox="1"/>
          <p:nvPr/>
        </p:nvSpPr>
        <p:spPr>
          <a:xfrm>
            <a:off x="8704613" y="3244334"/>
            <a:ext cx="1781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liquidlike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671E14-6637-63DD-BA4B-1829A0B9EF04}"/>
              </a:ext>
            </a:extLst>
          </p:cNvPr>
          <p:cNvSpPr txBox="1"/>
          <p:nvPr/>
        </p:nvSpPr>
        <p:spPr>
          <a:xfrm>
            <a:off x="1803070" y="3173527"/>
            <a:ext cx="2468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Intermediate densities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AE39D298-CB7E-2421-E679-CFF2C3C992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473611"/>
              </p:ext>
            </p:extLst>
          </p:nvPr>
        </p:nvGraphicFramePr>
        <p:xfrm>
          <a:off x="4858987" y="3238500"/>
          <a:ext cx="9683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0" imgW="483480" imgH="191160" progId="Equation.AxMath">
                  <p:embed/>
                </p:oleObj>
              </mc:Choice>
              <mc:Fallback>
                <p:oleObj name="AxMath" r:id="rId10" imgW="483480" imgH="191160" progId="Equation.AxMath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AE39D298-CB7E-2421-E679-CFF2C3C992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858987" y="3238500"/>
                        <a:ext cx="968375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5228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830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CF4993-BBBC-ED2E-CEF0-5D1315FDBDBB}"/>
              </a:ext>
            </a:extLst>
          </p:cNvPr>
          <p:cNvSpPr txBox="1"/>
          <p:nvPr/>
        </p:nvSpPr>
        <p:spPr>
          <a:xfrm>
            <a:off x="175161" y="349724"/>
            <a:ext cx="6097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 realization: Liquid  helium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2ACEF9-FEE9-CB5A-EC5A-C186458A7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1367"/>
            <a:ext cx="3740727" cy="13157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FF1179-ABBF-54D1-8B4D-863A81EF2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860" y="1451367"/>
            <a:ext cx="3200847" cy="15527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F7A11D-641F-9DFD-61E7-0A8C4DC15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504" y="3705100"/>
            <a:ext cx="3002066" cy="27262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EC5CED-3F3C-0700-155A-801F1AAD92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1169" y="3635720"/>
            <a:ext cx="4429743" cy="2953162"/>
          </a:xfrm>
          <a:prstGeom prst="rect">
            <a:avLst/>
          </a:prstGeom>
        </p:spPr>
      </p:pic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2BDAD2AA-294B-8AE6-AED8-9F284EF417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6696285"/>
              </p:ext>
            </p:extLst>
          </p:nvPr>
        </p:nvGraphicFramePr>
        <p:xfrm>
          <a:off x="997526" y="3017048"/>
          <a:ext cx="233921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6" imgW="1025280" imgH="192600" progId="Equation.AxMath">
                  <p:embed/>
                </p:oleObj>
              </mc:Choice>
              <mc:Fallback>
                <p:oleObj name="AxMath" r:id="rId6" imgW="1025280" imgH="192600" progId="Equation.AxMath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2BDAD2AA-294B-8AE6-AED8-9F284EF417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97526" y="3017048"/>
                        <a:ext cx="2339212" cy="438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8079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754CE9-A3CB-F619-8873-EE363E948F48}"/>
              </a:ext>
            </a:extLst>
          </p:cNvPr>
          <p:cNvSpPr txBox="1"/>
          <p:nvPr/>
        </p:nvSpPr>
        <p:spPr>
          <a:xfrm>
            <a:off x="175161" y="349724"/>
            <a:ext cx="6097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 realization: Quantum Hall system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CE9DEA8-DF25-21AC-26ED-779A61D08E4B}"/>
              </a:ext>
            </a:extLst>
          </p:cNvPr>
          <p:cNvSpPr/>
          <p:nvPr/>
        </p:nvSpPr>
        <p:spPr>
          <a:xfrm>
            <a:off x="558140" y="2220686"/>
            <a:ext cx="2375065" cy="77189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93955E7-78DA-C58D-4AAF-22546B745164}"/>
              </a:ext>
            </a:extLst>
          </p:cNvPr>
          <p:cNvCxnSpPr>
            <a:cxnSpLocks/>
          </p:cNvCxnSpPr>
          <p:nvPr/>
        </p:nvCxnSpPr>
        <p:spPr>
          <a:xfrm flipV="1">
            <a:off x="1698171" y="1286422"/>
            <a:ext cx="0" cy="269181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0902AC11-FEE3-2E0F-3CA8-111903C662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3819530"/>
              </p:ext>
            </p:extLst>
          </p:nvPr>
        </p:nvGraphicFramePr>
        <p:xfrm>
          <a:off x="1912938" y="1044575"/>
          <a:ext cx="38893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" imgW="142560" imgH="189720" progId="Equation.AxMath">
                  <p:embed/>
                </p:oleObj>
              </mc:Choice>
              <mc:Fallback>
                <p:oleObj name="AxMath" r:id="rId2" imgW="142560" imgH="189720" progId="Equation.AxMath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0902AC11-FEE3-2E0F-3CA8-111903C662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12938" y="1044575"/>
                        <a:ext cx="388937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2EE48314-E963-F787-99CD-B44F3EF9DAD8}"/>
              </a:ext>
            </a:extLst>
          </p:cNvPr>
          <p:cNvSpPr/>
          <p:nvPr/>
        </p:nvSpPr>
        <p:spPr>
          <a:xfrm>
            <a:off x="2778826" y="2656078"/>
            <a:ext cx="118753" cy="166254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9D443C1-8E89-D825-55CF-B92B22688E10}"/>
              </a:ext>
            </a:extLst>
          </p:cNvPr>
          <p:cNvCxnSpPr>
            <a:cxnSpLocks/>
          </p:cNvCxnSpPr>
          <p:nvPr/>
        </p:nvCxnSpPr>
        <p:spPr>
          <a:xfrm>
            <a:off x="1703765" y="2606634"/>
            <a:ext cx="1092530" cy="831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127D422C-38CE-5926-C7EF-1D41FA9F40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4808352"/>
              </p:ext>
            </p:extLst>
          </p:nvPr>
        </p:nvGraphicFramePr>
        <p:xfrm>
          <a:off x="2525713" y="1746250"/>
          <a:ext cx="13970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4" imgW="699120" imgH="218520" progId="Equation.AxMath">
                  <p:embed/>
                </p:oleObj>
              </mc:Choice>
              <mc:Fallback>
                <p:oleObj name="AxMath" r:id="rId4" imgW="699120" imgH="218520" progId="Equation.AxMath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127D422C-38CE-5926-C7EF-1D41FA9F4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25713" y="1746250"/>
                        <a:ext cx="1397000" cy="438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1D8E8882-E0CA-E7C3-1B77-BF0BC64EAA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279474"/>
              </p:ext>
            </p:extLst>
          </p:nvPr>
        </p:nvGraphicFramePr>
        <p:xfrm>
          <a:off x="2525713" y="3360717"/>
          <a:ext cx="102235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6" imgW="510840" imgH="347760" progId="Equation.AxMath">
                  <p:embed/>
                </p:oleObj>
              </mc:Choice>
              <mc:Fallback>
                <p:oleObj name="AxMath" r:id="rId6" imgW="510840" imgH="347760" progId="Equation.AxMath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1D8E8882-E0CA-E7C3-1B77-BF0BC64EAA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25713" y="3360717"/>
                        <a:ext cx="1022350" cy="695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4302907-2670-E911-E448-5B84EDB52CD3}"/>
              </a:ext>
            </a:extLst>
          </p:cNvPr>
          <p:cNvSpPr txBox="1"/>
          <p:nvPr/>
        </p:nvSpPr>
        <p:spPr>
          <a:xfrm>
            <a:off x="5759532" y="1146705"/>
            <a:ext cx="1163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Plasmon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E30ACA6B-3A83-978D-C024-947F68D9DB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9216045"/>
              </p:ext>
            </p:extLst>
          </p:nvPr>
        </p:nvGraphicFramePr>
        <p:xfrm>
          <a:off x="5759531" y="1781203"/>
          <a:ext cx="233921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8" imgW="1025280" imgH="192600" progId="Equation.AxMath">
                  <p:embed/>
                </p:oleObj>
              </mc:Choice>
              <mc:Fallback>
                <p:oleObj name="AxMath" r:id="rId8" imgW="1025280" imgH="192600" progId="Equation.AxMath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E30ACA6B-3A83-978D-C024-947F68D9DB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59531" y="1781203"/>
                        <a:ext cx="2339212" cy="438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482A11F-80D9-3DD1-2809-1C2ABE5A869E}"/>
              </a:ext>
            </a:extLst>
          </p:cNvPr>
          <p:cNvSpPr txBox="1"/>
          <p:nvPr/>
        </p:nvSpPr>
        <p:spPr>
          <a:xfrm>
            <a:off x="5759531" y="2822332"/>
            <a:ext cx="3653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perpendicular magnetic field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43D32CB2-1D05-8097-A45E-275189598D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1535648"/>
              </p:ext>
            </p:extLst>
          </p:nvPr>
        </p:nvGraphicFramePr>
        <p:xfrm>
          <a:off x="5961251" y="3675905"/>
          <a:ext cx="1924126" cy="461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0" imgW="799920" imgH="192600" progId="Equation.AxMath">
                  <p:embed/>
                </p:oleObj>
              </mc:Choice>
              <mc:Fallback>
                <p:oleObj name="AxMath" r:id="rId10" imgW="799920" imgH="192600" progId="Equation.AxMath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43D32CB2-1D05-8097-A45E-275189598D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961251" y="3675905"/>
                        <a:ext cx="1924126" cy="4619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09C0845F-8037-E8B6-0549-50789B900599}"/>
              </a:ext>
            </a:extLst>
          </p:cNvPr>
          <p:cNvSpPr txBox="1"/>
          <p:nvPr/>
        </p:nvSpPr>
        <p:spPr>
          <a:xfrm>
            <a:off x="9854910" y="3708379"/>
            <a:ext cx="1924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Gapped in bulk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F587AEFB-1F9A-A79D-9F65-9BBE93691B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8766540"/>
              </p:ext>
            </p:extLst>
          </p:nvPr>
        </p:nvGraphicFramePr>
        <p:xfrm>
          <a:off x="5961251" y="5192136"/>
          <a:ext cx="51085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2" imgW="2554920" imgH="199080" progId="Equation.AxMath">
                  <p:embed/>
                </p:oleObj>
              </mc:Choice>
              <mc:Fallback>
                <p:oleObj name="AxMath" r:id="rId12" imgW="2554920" imgH="199080" progId="Equation.AxMath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F587AEFB-1F9A-A79D-9F65-9BBE93691B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961251" y="5192136"/>
                        <a:ext cx="5108575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042FAC59-37CB-EB40-D610-E926BF9FD300}"/>
              </a:ext>
            </a:extLst>
          </p:cNvPr>
          <p:cNvSpPr txBox="1"/>
          <p:nvPr/>
        </p:nvSpPr>
        <p:spPr>
          <a:xfrm>
            <a:off x="5759531" y="4583875"/>
            <a:ext cx="365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magnetophonon branch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3CA2C1-45B6-493D-4D0E-C1B54AC93A30}"/>
              </a:ext>
            </a:extLst>
          </p:cNvPr>
          <p:cNvSpPr txBox="1"/>
          <p:nvPr/>
        </p:nvSpPr>
        <p:spPr>
          <a:xfrm>
            <a:off x="5976094" y="5882966"/>
            <a:ext cx="1349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gapless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9229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6CDF9B-E8F5-5FD0-14FB-33B7FCF656CD}"/>
              </a:ext>
            </a:extLst>
          </p:cNvPr>
          <p:cNvSpPr txBox="1"/>
          <p:nvPr/>
        </p:nvSpPr>
        <p:spPr>
          <a:xfrm>
            <a:off x="175161" y="349724"/>
            <a:ext cx="6097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 realization: Quantum Hall system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CDB6F7-79DE-032B-B377-E6E8DC233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8173" y="1286422"/>
            <a:ext cx="3274622" cy="38672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BC8725-9876-F92F-A5BA-10AF327C9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43" y="1371097"/>
            <a:ext cx="5211061" cy="3695951"/>
          </a:xfrm>
          <a:prstGeom prst="rect">
            <a:avLst/>
          </a:prstGeom>
        </p:spPr>
      </p:pic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309AE72F-A726-04C5-7EB0-93D1EF0F15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36915"/>
              </p:ext>
            </p:extLst>
          </p:nvPr>
        </p:nvGraphicFramePr>
        <p:xfrm>
          <a:off x="907679" y="5626756"/>
          <a:ext cx="189547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4" imgW="947880" imgH="197280" progId="Equation.AxMath">
                  <p:embed/>
                </p:oleObj>
              </mc:Choice>
              <mc:Fallback>
                <p:oleObj name="AxMath" r:id="rId4" imgW="947880" imgH="197280" progId="Equation.AxMath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309AE72F-A726-04C5-7EB0-93D1EF0F15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07679" y="5626756"/>
                        <a:ext cx="1895475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620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DE0E4C-C9BC-7378-3C51-C970A78D8047}"/>
              </a:ext>
            </a:extLst>
          </p:cNvPr>
          <p:cNvSpPr txBox="1"/>
          <p:nvPr/>
        </p:nvSpPr>
        <p:spPr>
          <a:xfrm>
            <a:off x="175161" y="349724"/>
            <a:ext cx="6097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 realization: Quantum Hall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9EF03A-C595-56F1-CA95-8A3A8F211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61" y="1128636"/>
            <a:ext cx="3901201" cy="46007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F39729-28FA-67DC-6C2B-3E5F81E20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181" y="960537"/>
            <a:ext cx="4001985" cy="4940222"/>
          </a:xfrm>
          <a:prstGeom prst="rect">
            <a:avLst/>
          </a:prstGeom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5574A14-843F-EDC0-0E17-1D2265E927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687667"/>
              </p:ext>
            </p:extLst>
          </p:nvPr>
        </p:nvGraphicFramePr>
        <p:xfrm>
          <a:off x="7806934" y="6093072"/>
          <a:ext cx="21336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4" imgW="1067040" imgH="200160" progId="Equation.AxMath">
                  <p:embed/>
                </p:oleObj>
              </mc:Choice>
              <mc:Fallback>
                <p:oleObj name="AxMath" r:id="rId4" imgW="1067040" imgH="200160" progId="Equation.AxMath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85574A14-843F-EDC0-0E17-1D2265E927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806934" y="6093072"/>
                        <a:ext cx="213360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3182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51D6D0-E76B-C07F-C435-30C5240C2013}"/>
              </a:ext>
            </a:extLst>
          </p:cNvPr>
          <p:cNvSpPr txBox="1"/>
          <p:nvPr/>
        </p:nvSpPr>
        <p:spPr>
          <a:xfrm>
            <a:off x="175161" y="349724"/>
            <a:ext cx="73300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 realization: Twisted bilayer graphene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62E6E7-5942-9668-EB1F-8449844D6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61" y="1187533"/>
            <a:ext cx="3163911" cy="32440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FF3E33-5900-8A5E-4488-FCF502B69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904" y="1187533"/>
            <a:ext cx="6087325" cy="3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192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9779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4150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8017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3429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25E23D-7CD8-92CB-07F5-6F7BCDCE5813}"/>
              </a:ext>
            </a:extLst>
          </p:cNvPr>
          <p:cNvSpPr txBox="1"/>
          <p:nvPr/>
        </p:nvSpPr>
        <p:spPr>
          <a:xfrm>
            <a:off x="178130" y="273132"/>
            <a:ext cx="3681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zh-CN" altLang="en-US" sz="24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241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F3A5AA-BBF7-CDB1-AE2A-0967A8321D4A}"/>
              </a:ext>
            </a:extLst>
          </p:cNvPr>
          <p:cNvSpPr txBox="1"/>
          <p:nvPr/>
        </p:nvSpPr>
        <p:spPr>
          <a:xfrm>
            <a:off x="178130" y="273132"/>
            <a:ext cx="3681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lang="zh-CN" altLang="en-US" sz="24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C02EBC-9F2C-22BE-80C2-5A92D32A0DD6}"/>
              </a:ext>
            </a:extLst>
          </p:cNvPr>
          <p:cNvSpPr txBox="1"/>
          <p:nvPr/>
        </p:nvSpPr>
        <p:spPr>
          <a:xfrm>
            <a:off x="336467" y="1223158"/>
            <a:ext cx="115190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Wigner, E. Phys. Rev. 46, 1002–1101 (1934)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Grimes, C. C. &amp; Adams, G. Phys. Rev. Lett. 42, 795–798 (1979)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Andrei, E. Y. et al. Phys. Rev. Lett. 60, 2765–2768 (1988)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H. W. Jiang.et al. Phys.Rev.Lett.65. 633-636(1990)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Tsui, Y.-C. et al. Nature 628, 287–292 (2024)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667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D7F19D-7955-5D66-BDD0-9A7CCE3E163C}"/>
              </a:ext>
            </a:extLst>
          </p:cNvPr>
          <p:cNvSpPr txBox="1"/>
          <p:nvPr/>
        </p:nvSpPr>
        <p:spPr>
          <a:xfrm>
            <a:off x="304800" y="2603324"/>
            <a:ext cx="11887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for your attention!</a:t>
            </a:r>
            <a:endParaRPr lang="zh-CN" altLang="en-US" sz="54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277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233</Words>
  <Application>Microsoft Office PowerPoint</Application>
  <PresentationFormat>Widescreen</PresentationFormat>
  <Paragraphs>52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等线</vt:lpstr>
      <vt:lpstr>等线 Light</vt:lpstr>
      <vt:lpstr>Arial</vt:lpstr>
      <vt:lpstr>Calibri</vt:lpstr>
      <vt:lpstr>Office Theme</vt:lpstr>
      <vt:lpstr>Equation.AxMath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PangTsuntsun</dc:creator>
  <cp:lastModifiedBy>PangTsuntsun</cp:lastModifiedBy>
  <cp:revision>1</cp:revision>
  <dcterms:created xsi:type="dcterms:W3CDTF">2026-09-14T07:08:00Z</dcterms:created>
  <dcterms:modified xsi:type="dcterms:W3CDTF">2026-09-14T12:06:04Z</dcterms:modified>
</cp:coreProperties>
</file>